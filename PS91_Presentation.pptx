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F17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58368" y="1874519"/>
            <a:ext cx="10874959" cy="365760"/>
          </a:xfrm>
          <a:prstGeom prst="rect">
            <a:avLst/>
          </a:prstGeom>
          <a:noFill/>
        </p:spPr>
        <p:txBody>
          <a:bodyPr wrap="square" anchor="t">
            <a:spAutoFit/>
          </a:bodyPr>
          <a:lstStyle/>
          <a:p>
            <a:pPr algn="l">
              <a:spcAft>
                <a:spcPts val="0"/>
              </a:spcAft>
            </a:pPr>
            <a:r>
              <a:rPr sz="1300" b="1" i="0">
                <a:solidFill>
                  <a:srgbClr val="0EA5E9"/>
                </a:solidFill>
                <a:latin typeface="Arial"/>
              </a:rPr>
              <a:t>PROBLEM STATEMENT PS91</a:t>
            </a:r>
          </a:p>
        </p:txBody>
      </p:sp>
      <p:sp>
        <p:nvSpPr>
          <p:cNvPr id="4" name="TextBox 3"/>
          <p:cNvSpPr txBox="1"/>
          <p:nvPr/>
        </p:nvSpPr>
        <p:spPr>
          <a:xfrm>
            <a:off x="658368" y="2395728"/>
            <a:ext cx="10058400" cy="1920240"/>
          </a:xfrm>
          <a:prstGeom prst="rect">
            <a:avLst/>
          </a:prstGeom>
          <a:noFill/>
        </p:spPr>
        <p:txBody>
          <a:bodyPr wrap="square" anchor="t">
            <a:spAutoFit/>
          </a:bodyPr>
          <a:lstStyle/>
          <a:p>
            <a:pPr algn="l">
              <a:spcAft>
                <a:spcPts val="600"/>
              </a:spcAft>
            </a:pPr>
            <a:r>
              <a:rPr sz="5400" b="1" i="0">
                <a:solidFill>
                  <a:srgbClr val="FFFFFF"/>
                </a:solidFill>
                <a:latin typeface="Arial"/>
              </a:rPr>
              <a:t>RailSure</a:t>
            </a:r>
          </a:p>
          <a:p>
            <a:pPr>
              <a:spcAft>
                <a:spcPts val="0"/>
              </a:spcAft>
            </a:pPr>
            <a:r>
              <a:rPr sz="2600" b="0" i="0">
                <a:solidFill>
                  <a:srgbClr val="CBD5E1"/>
                </a:solidFill>
                <a:latin typeface="Arial"/>
              </a:rPr>
              <a:t>Journey confidence for Indian Railways</a:t>
            </a:r>
          </a:p>
        </p:txBody>
      </p:sp>
      <p:sp>
        <p:nvSpPr>
          <p:cNvPr id="5" name="TextBox 4"/>
          <p:cNvSpPr txBox="1"/>
          <p:nvPr/>
        </p:nvSpPr>
        <p:spPr>
          <a:xfrm>
            <a:off x="658368" y="4434840"/>
            <a:ext cx="9326880" cy="914400"/>
          </a:xfrm>
          <a:prstGeom prst="rect">
            <a:avLst/>
          </a:prstGeom>
          <a:noFill/>
        </p:spPr>
        <p:txBody>
          <a:bodyPr wrap="square" anchor="t">
            <a:spAutoFit/>
          </a:bodyPr>
          <a:lstStyle/>
          <a:p>
            <a:pPr algn="l">
              <a:spcAft>
                <a:spcPts val="200"/>
              </a:spcAft>
            </a:pPr>
            <a:r>
              <a:rPr sz="1600" b="0" i="0">
                <a:solidFill>
                  <a:srgbClr val="CBD5E1"/>
                </a:solidFill>
                <a:latin typeface="Arial"/>
              </a:rPr>
              <a:t>One platform that tells passengers whether their ticket will confirm and whether</a:t>
            </a:r>
          </a:p>
          <a:p>
            <a:pPr>
              <a:spcAft>
                <a:spcPts val="0"/>
              </a:spcAft>
            </a:pPr>
            <a:r>
              <a:rPr sz="1600" b="0" i="0">
                <a:solidFill>
                  <a:srgbClr val="CBD5E1"/>
                </a:solidFill>
                <a:latin typeface="Arial"/>
              </a:rPr>
              <a:t>they will make their connection — and tells railway staff who is about to miss one.</a:t>
            </a:r>
          </a:p>
        </p:txBody>
      </p:sp>
      <p:sp>
        <p:nvSpPr>
          <p:cNvPr id="6" name="Rectangle 5"/>
          <p:cNvSpPr/>
          <p:nvPr/>
        </p:nvSpPr>
        <p:spPr>
          <a:xfrm>
            <a:off x="658368" y="5532120"/>
            <a:ext cx="2011680" cy="38100"/>
          </a:xfrm>
          <a:prstGeom prst="rect">
            <a:avLst/>
          </a:prstGeom>
          <a:solidFill>
            <a:srgbClr val="0EA5E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58368" y="5760720"/>
            <a:ext cx="10058400" cy="457200"/>
          </a:xfrm>
          <a:prstGeom prst="rect">
            <a:avLst/>
          </a:prstGeom>
          <a:noFill/>
        </p:spPr>
        <p:txBody>
          <a:bodyPr wrap="square" anchor="t">
            <a:spAutoFit/>
          </a:bodyPr>
          <a:lstStyle/>
          <a:p>
            <a:pPr algn="l">
              <a:spcAft>
                <a:spcPts val="0"/>
              </a:spcAft>
            </a:pPr>
            <a:r>
              <a:rPr sz="1200" b="0" i="0">
                <a:solidFill>
                  <a:srgbClr val="64748B"/>
                </a:solidFill>
                <a:latin typeface="Arial"/>
              </a:rPr>
              <a:t>irctc-smoky.vercel.app     ·     github.com/mohammadamir0762-arch/irctc</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58368" y="457200"/>
            <a:ext cx="10874959" cy="274320"/>
          </a:xfrm>
          <a:prstGeom prst="rect">
            <a:avLst/>
          </a:prstGeom>
          <a:noFill/>
        </p:spPr>
        <p:txBody>
          <a:bodyPr wrap="square" anchor="t">
            <a:spAutoFit/>
          </a:bodyPr>
          <a:lstStyle/>
          <a:p>
            <a:pPr algn="l">
              <a:spcAft>
                <a:spcPts val="0"/>
              </a:spcAft>
            </a:pPr>
            <a:r>
              <a:rPr sz="1100" b="1" i="0">
                <a:solidFill>
                  <a:srgbClr val="64748B"/>
                </a:solidFill>
                <a:latin typeface="Arial"/>
              </a:rPr>
              <a:t>THE PROBLEM</a:t>
            </a:r>
          </a:p>
        </p:txBody>
      </p:sp>
      <p:sp>
        <p:nvSpPr>
          <p:cNvPr id="4" name="TextBox 3"/>
          <p:cNvSpPr txBox="1"/>
          <p:nvPr/>
        </p:nvSpPr>
        <p:spPr>
          <a:xfrm>
            <a:off x="658368" y="768096"/>
            <a:ext cx="10874959" cy="548640"/>
          </a:xfrm>
          <a:prstGeom prst="rect">
            <a:avLst/>
          </a:prstGeom>
          <a:noFill/>
        </p:spPr>
        <p:txBody>
          <a:bodyPr wrap="square" anchor="t">
            <a:spAutoFit/>
          </a:bodyPr>
          <a:lstStyle/>
          <a:p>
            <a:pPr algn="l">
              <a:spcAft>
                <a:spcPts val="0"/>
              </a:spcAft>
            </a:pPr>
            <a:r>
              <a:rPr sz="3000" b="1" i="0">
                <a:solidFill>
                  <a:srgbClr val="0F172A"/>
                </a:solidFill>
                <a:latin typeface="Arial"/>
              </a:rPr>
              <a:t>A journey has more than one way to fail</a:t>
            </a:r>
          </a:p>
        </p:txBody>
      </p:sp>
      <p:sp>
        <p:nvSpPr>
          <p:cNvPr id="5" name="Rectangle 4"/>
          <p:cNvSpPr/>
          <p:nvPr/>
        </p:nvSpPr>
        <p:spPr>
          <a:xfrm>
            <a:off x="658368" y="1371600"/>
            <a:ext cx="1005840" cy="38100"/>
          </a:xfrm>
          <a:prstGeom prst="rect">
            <a:avLst/>
          </a:prstGeom>
          <a:solidFill>
            <a:srgbClr val="0EA5E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58368" y="1700784"/>
            <a:ext cx="10874959" cy="4334256"/>
          </a:xfrm>
          <a:prstGeom prst="rect">
            <a:avLst/>
          </a:prstGeom>
          <a:noFill/>
        </p:spPr>
        <p:txBody>
          <a:bodyPr wrap="square" anchor="t">
            <a:spAutoFit/>
          </a:bodyPr>
          <a:lstStyle/>
          <a:p>
            <a:pPr algn="l">
              <a:spcAft>
                <a:spcPts val="300"/>
              </a:spcAft>
            </a:pPr>
            <a:r>
              <a:rPr sz="1900" b="1" i="0">
                <a:solidFill>
                  <a:srgbClr val="0F172A"/>
                </a:solidFill>
                <a:latin typeface="Arial"/>
              </a:rPr>
              <a:t>The ticket might not confirm</a:t>
            </a:r>
          </a:p>
          <a:p>
            <a:pPr>
              <a:spcAft>
                <a:spcPts val="1700"/>
              </a:spcAft>
            </a:pPr>
            <a:r>
              <a:rPr sz="1500" b="0" i="0">
                <a:solidFill>
                  <a:srgbClr val="64748B"/>
                </a:solidFill>
                <a:latin typeface="Arial"/>
              </a:rPr>
              <a:t>A ticket says WL 23 and nothing tells you whether it will clear. Passengers hold tickets they cannot use, or cancel ones that would have confirmed.</a:t>
            </a:r>
          </a:p>
          <a:p>
            <a:pPr>
              <a:spcAft>
                <a:spcPts val="300"/>
              </a:spcAft>
            </a:pPr>
            <a:r>
              <a:rPr sz="1900" b="1" i="0">
                <a:solidFill>
                  <a:srgbClr val="0F172A"/>
                </a:solidFill>
                <a:latin typeface="Arial"/>
              </a:rPr>
              <a:t>The connection might not hold</a:t>
            </a:r>
          </a:p>
          <a:p>
            <a:pPr>
              <a:spcAft>
                <a:spcPts val="1700"/>
              </a:spcAft>
            </a:pPr>
            <a:r>
              <a:rPr sz="1500" b="0" i="0">
                <a:solidFill>
                  <a:srgbClr val="64748B"/>
                </a:solidFill>
                <a:latin typeface="Arial"/>
              </a:rPr>
              <a:t>Many city pairs have no direct train, so passengers book two legs and hope the first arrives in time. Delays are routine, so that hope is the entire plan.</a:t>
            </a:r>
          </a:p>
          <a:p>
            <a:pPr>
              <a:spcAft>
                <a:spcPts val="300"/>
              </a:spcAft>
            </a:pPr>
            <a:r>
              <a:rPr sz="1900" b="1" i="0">
                <a:solidFill>
                  <a:srgbClr val="0F172A"/>
                </a:solidFill>
                <a:latin typeface="Arial"/>
              </a:rPr>
              <a:t>Nobody is watching the handover</a:t>
            </a:r>
          </a:p>
          <a:p>
            <a:pPr>
              <a:spcAft>
                <a:spcPts val="1700"/>
              </a:spcAft>
            </a:pPr>
            <a:r>
              <a:rPr sz="1500" b="0" i="0">
                <a:solidFill>
                  <a:srgbClr val="64748B"/>
                </a:solidFill>
                <a:latin typeface="Arial"/>
              </a:rPr>
              <a:t>When a train runs late, no one knows how many people on board are due to board another train at the next junction. The connection is treated as the passenger's problem, even when a short hold would have saved it.</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58368" y="457200"/>
            <a:ext cx="10874959" cy="274320"/>
          </a:xfrm>
          <a:prstGeom prst="rect">
            <a:avLst/>
          </a:prstGeom>
          <a:noFill/>
        </p:spPr>
        <p:txBody>
          <a:bodyPr wrap="square" anchor="t">
            <a:spAutoFit/>
          </a:bodyPr>
          <a:lstStyle/>
          <a:p>
            <a:pPr algn="l">
              <a:spcAft>
                <a:spcPts val="0"/>
              </a:spcAft>
            </a:pPr>
            <a:r>
              <a:rPr sz="1100" b="1" i="0">
                <a:solidFill>
                  <a:srgbClr val="64748B"/>
                </a:solidFill>
                <a:latin typeface="Arial"/>
              </a:rPr>
              <a:t>THE SOLUTION</a:t>
            </a:r>
          </a:p>
        </p:txBody>
      </p:sp>
      <p:sp>
        <p:nvSpPr>
          <p:cNvPr id="4" name="TextBox 3"/>
          <p:cNvSpPr txBox="1"/>
          <p:nvPr/>
        </p:nvSpPr>
        <p:spPr>
          <a:xfrm>
            <a:off x="658368" y="768096"/>
            <a:ext cx="10874959" cy="548640"/>
          </a:xfrm>
          <a:prstGeom prst="rect">
            <a:avLst/>
          </a:prstGeom>
          <a:noFill/>
        </p:spPr>
        <p:txBody>
          <a:bodyPr wrap="square" anchor="t">
            <a:spAutoFit/>
          </a:bodyPr>
          <a:lstStyle/>
          <a:p>
            <a:pPr algn="l">
              <a:spcAft>
                <a:spcPts val="0"/>
              </a:spcAft>
            </a:pPr>
            <a:r>
              <a:rPr sz="3000" b="1" i="0">
                <a:solidFill>
                  <a:srgbClr val="0F172A"/>
                </a:solidFill>
                <a:latin typeface="Arial"/>
              </a:rPr>
              <a:t>One platform, four capabilities</a:t>
            </a:r>
          </a:p>
        </p:txBody>
      </p:sp>
      <p:sp>
        <p:nvSpPr>
          <p:cNvPr id="5" name="Rectangle 4"/>
          <p:cNvSpPr/>
          <p:nvPr/>
        </p:nvSpPr>
        <p:spPr>
          <a:xfrm>
            <a:off x="658368" y="1371600"/>
            <a:ext cx="1005840" cy="38100"/>
          </a:xfrm>
          <a:prstGeom prst="rect">
            <a:avLst/>
          </a:prstGeom>
          <a:solidFill>
            <a:srgbClr val="0EA5E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58368" y="1700784"/>
            <a:ext cx="10874959" cy="457200"/>
          </a:xfrm>
          <a:prstGeom prst="rect">
            <a:avLst/>
          </a:prstGeom>
          <a:noFill/>
        </p:spPr>
        <p:txBody>
          <a:bodyPr wrap="square" anchor="t">
            <a:spAutoFit/>
          </a:bodyPr>
          <a:lstStyle/>
          <a:p>
            <a:pPr algn="l">
              <a:spcAft>
                <a:spcPts val="0"/>
              </a:spcAft>
            </a:pPr>
            <a:r>
              <a:rPr sz="1600" b="0" i="0">
                <a:solidFill>
                  <a:srgbClr val="64748B"/>
                </a:solidFill>
                <a:latin typeface="Arial"/>
              </a:rPr>
              <a:t>Built around a single question: will this journey actually work, end to end?</a:t>
            </a:r>
          </a:p>
        </p:txBody>
      </p:sp>
      <p:sp>
        <p:nvSpPr>
          <p:cNvPr id="7" name="Rounded Rectangle 6"/>
          <p:cNvSpPr/>
          <p:nvPr/>
        </p:nvSpPr>
        <p:spPr>
          <a:xfrm>
            <a:off x="658368" y="2359152"/>
            <a:ext cx="5300319" cy="1600200"/>
          </a:xfrm>
          <a:prstGeom prst="roundRect">
            <a:avLst>
              <a:gd name="adj" fmla="val 5000"/>
            </a:avLst>
          </a:prstGeom>
          <a:solidFill>
            <a:srgbClr val="F1F5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969264" y="2560320"/>
            <a:ext cx="914400" cy="365760"/>
          </a:xfrm>
          <a:prstGeom prst="rect">
            <a:avLst/>
          </a:prstGeom>
          <a:noFill/>
        </p:spPr>
        <p:txBody>
          <a:bodyPr wrap="square" anchor="t">
            <a:spAutoFit/>
          </a:bodyPr>
          <a:lstStyle/>
          <a:p>
            <a:pPr algn="l">
              <a:spcAft>
                <a:spcPts val="0"/>
              </a:spcAft>
            </a:pPr>
            <a:r>
              <a:rPr sz="1300" b="1" i="0">
                <a:solidFill>
                  <a:srgbClr val="0EA5E9"/>
                </a:solidFill>
                <a:latin typeface="Arial"/>
              </a:rPr>
              <a:t>01</a:t>
            </a:r>
          </a:p>
        </p:txBody>
      </p:sp>
      <p:sp>
        <p:nvSpPr>
          <p:cNvPr id="9" name="TextBox 8"/>
          <p:cNvSpPr txBox="1"/>
          <p:nvPr/>
        </p:nvSpPr>
        <p:spPr>
          <a:xfrm>
            <a:off x="969264" y="2907792"/>
            <a:ext cx="4678527" cy="914400"/>
          </a:xfrm>
          <a:prstGeom prst="rect">
            <a:avLst/>
          </a:prstGeom>
          <a:noFill/>
        </p:spPr>
        <p:txBody>
          <a:bodyPr wrap="square" anchor="t">
            <a:spAutoFit/>
          </a:bodyPr>
          <a:lstStyle/>
          <a:p>
            <a:pPr algn="l">
              <a:spcAft>
                <a:spcPts val="400"/>
              </a:spcAft>
            </a:pPr>
            <a:r>
              <a:rPr sz="1900" b="1" i="0">
                <a:solidFill>
                  <a:srgbClr val="0F172A"/>
                </a:solidFill>
                <a:latin typeface="Arial"/>
              </a:rPr>
              <a:t>Confirmation prediction</a:t>
            </a:r>
          </a:p>
          <a:p>
            <a:pPr>
              <a:spcAft>
                <a:spcPts val="0"/>
              </a:spcAft>
            </a:pPr>
            <a:r>
              <a:rPr sz="1300" b="0" i="0">
                <a:solidFill>
                  <a:srgbClr val="64748B"/>
                </a:solidFill>
                <a:latin typeface="Arial"/>
              </a:rPr>
              <a:t>Enter a PNR and get the probability it confirms, with the factors behind it.</a:t>
            </a:r>
          </a:p>
        </p:txBody>
      </p:sp>
      <p:sp>
        <p:nvSpPr>
          <p:cNvPr id="10" name="Rounded Rectangle 9"/>
          <p:cNvSpPr/>
          <p:nvPr/>
        </p:nvSpPr>
        <p:spPr>
          <a:xfrm>
            <a:off x="6233007" y="2359152"/>
            <a:ext cx="5300319" cy="1600200"/>
          </a:xfrm>
          <a:prstGeom prst="roundRect">
            <a:avLst>
              <a:gd name="adj" fmla="val 5000"/>
            </a:avLst>
          </a:prstGeom>
          <a:solidFill>
            <a:srgbClr val="F1F5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543903" y="2560320"/>
            <a:ext cx="914400" cy="365760"/>
          </a:xfrm>
          <a:prstGeom prst="rect">
            <a:avLst/>
          </a:prstGeom>
          <a:noFill/>
        </p:spPr>
        <p:txBody>
          <a:bodyPr wrap="square" anchor="t">
            <a:spAutoFit/>
          </a:bodyPr>
          <a:lstStyle/>
          <a:p>
            <a:pPr algn="l">
              <a:spcAft>
                <a:spcPts val="0"/>
              </a:spcAft>
            </a:pPr>
            <a:r>
              <a:rPr sz="1300" b="1" i="0">
                <a:solidFill>
                  <a:srgbClr val="0EA5E9"/>
                </a:solidFill>
                <a:latin typeface="Arial"/>
              </a:rPr>
              <a:t>02</a:t>
            </a:r>
          </a:p>
        </p:txBody>
      </p:sp>
      <p:sp>
        <p:nvSpPr>
          <p:cNvPr id="12" name="TextBox 11"/>
          <p:cNvSpPr txBox="1"/>
          <p:nvPr/>
        </p:nvSpPr>
        <p:spPr>
          <a:xfrm>
            <a:off x="6543903" y="2907792"/>
            <a:ext cx="4678527" cy="914400"/>
          </a:xfrm>
          <a:prstGeom prst="rect">
            <a:avLst/>
          </a:prstGeom>
          <a:noFill/>
        </p:spPr>
        <p:txBody>
          <a:bodyPr wrap="square" anchor="t">
            <a:spAutoFit/>
          </a:bodyPr>
          <a:lstStyle/>
          <a:p>
            <a:pPr algn="l">
              <a:spcAft>
                <a:spcPts val="400"/>
              </a:spcAft>
            </a:pPr>
            <a:r>
              <a:rPr sz="1900" b="1" i="0">
                <a:solidFill>
                  <a:srgbClr val="0F172A"/>
                </a:solidFill>
                <a:latin typeface="Arial"/>
              </a:rPr>
              <a:t>Connecting route search</a:t>
            </a:r>
          </a:p>
          <a:p>
            <a:pPr>
              <a:spcAft>
                <a:spcPts val="0"/>
              </a:spcAft>
            </a:pPr>
            <a:r>
              <a:rPr sz="1300" b="0" i="0">
                <a:solidFill>
                  <a:srgbClr val="64748B"/>
                </a:solidFill>
                <a:latin typeface="Arial"/>
              </a:rPr>
              <a:t>Find direct trains, and multi-leg routes where none exists or the direct train is full.</a:t>
            </a:r>
          </a:p>
        </p:txBody>
      </p:sp>
      <p:sp>
        <p:nvSpPr>
          <p:cNvPr id="13" name="Rounded Rectangle 12"/>
          <p:cNvSpPr/>
          <p:nvPr/>
        </p:nvSpPr>
        <p:spPr>
          <a:xfrm>
            <a:off x="658368" y="4197096"/>
            <a:ext cx="5300319" cy="1600200"/>
          </a:xfrm>
          <a:prstGeom prst="roundRect">
            <a:avLst>
              <a:gd name="adj" fmla="val 5000"/>
            </a:avLst>
          </a:prstGeom>
          <a:solidFill>
            <a:srgbClr val="F1F5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969264" y="4398264"/>
            <a:ext cx="914400" cy="365760"/>
          </a:xfrm>
          <a:prstGeom prst="rect">
            <a:avLst/>
          </a:prstGeom>
          <a:noFill/>
        </p:spPr>
        <p:txBody>
          <a:bodyPr wrap="square" anchor="t">
            <a:spAutoFit/>
          </a:bodyPr>
          <a:lstStyle/>
          <a:p>
            <a:pPr algn="l">
              <a:spcAft>
                <a:spcPts val="0"/>
              </a:spcAft>
            </a:pPr>
            <a:r>
              <a:rPr sz="1300" b="1" i="0">
                <a:solidFill>
                  <a:srgbClr val="0EA5E9"/>
                </a:solidFill>
                <a:latin typeface="Arial"/>
              </a:rPr>
              <a:t>03</a:t>
            </a:r>
          </a:p>
        </p:txBody>
      </p:sp>
      <p:sp>
        <p:nvSpPr>
          <p:cNvPr id="15" name="TextBox 14"/>
          <p:cNvSpPr txBox="1"/>
          <p:nvPr/>
        </p:nvSpPr>
        <p:spPr>
          <a:xfrm>
            <a:off x="969264" y="4745736"/>
            <a:ext cx="4678527" cy="914400"/>
          </a:xfrm>
          <a:prstGeom prst="rect">
            <a:avLst/>
          </a:prstGeom>
          <a:noFill/>
        </p:spPr>
        <p:txBody>
          <a:bodyPr wrap="square" anchor="t">
            <a:spAutoFit/>
          </a:bodyPr>
          <a:lstStyle/>
          <a:p>
            <a:pPr algn="l">
              <a:spcAft>
                <a:spcPts val="400"/>
              </a:spcAft>
            </a:pPr>
            <a:r>
              <a:rPr sz="1900" b="1" i="0">
                <a:solidFill>
                  <a:srgbClr val="0F172A"/>
                </a:solidFill>
                <a:latin typeface="Arial"/>
              </a:rPr>
              <a:t>Missed-connection risk</a:t>
            </a:r>
          </a:p>
          <a:p>
            <a:pPr>
              <a:spcAft>
                <a:spcPts val="0"/>
              </a:spcAft>
            </a:pPr>
            <a:r>
              <a:rPr sz="1300" b="0" i="0">
                <a:solidFill>
                  <a:srgbClr val="64748B"/>
                </a:solidFill>
                <a:latin typeface="Arial"/>
              </a:rPr>
              <a:t>Score the chance the first train's delay costs you the second one.</a:t>
            </a:r>
          </a:p>
        </p:txBody>
      </p:sp>
      <p:sp>
        <p:nvSpPr>
          <p:cNvPr id="16" name="Rounded Rectangle 15"/>
          <p:cNvSpPr/>
          <p:nvPr/>
        </p:nvSpPr>
        <p:spPr>
          <a:xfrm>
            <a:off x="6233007" y="4197096"/>
            <a:ext cx="5300319" cy="1600200"/>
          </a:xfrm>
          <a:prstGeom prst="roundRect">
            <a:avLst>
              <a:gd name="adj" fmla="val 5000"/>
            </a:avLst>
          </a:prstGeom>
          <a:solidFill>
            <a:srgbClr val="F1F5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6543903" y="4398264"/>
            <a:ext cx="914400" cy="365760"/>
          </a:xfrm>
          <a:prstGeom prst="rect">
            <a:avLst/>
          </a:prstGeom>
          <a:noFill/>
        </p:spPr>
        <p:txBody>
          <a:bodyPr wrap="square" anchor="t">
            <a:spAutoFit/>
          </a:bodyPr>
          <a:lstStyle/>
          <a:p>
            <a:pPr algn="l">
              <a:spcAft>
                <a:spcPts val="0"/>
              </a:spcAft>
            </a:pPr>
            <a:r>
              <a:rPr sz="1300" b="1" i="0">
                <a:solidFill>
                  <a:srgbClr val="059669"/>
                </a:solidFill>
                <a:latin typeface="Arial"/>
              </a:rPr>
              <a:t>04</a:t>
            </a:r>
          </a:p>
        </p:txBody>
      </p:sp>
      <p:sp>
        <p:nvSpPr>
          <p:cNvPr id="18" name="TextBox 17"/>
          <p:cNvSpPr txBox="1"/>
          <p:nvPr/>
        </p:nvSpPr>
        <p:spPr>
          <a:xfrm>
            <a:off x="6543903" y="4745736"/>
            <a:ext cx="4678527" cy="914400"/>
          </a:xfrm>
          <a:prstGeom prst="rect">
            <a:avLst/>
          </a:prstGeom>
          <a:noFill/>
        </p:spPr>
        <p:txBody>
          <a:bodyPr wrap="square" anchor="t">
            <a:spAutoFit/>
          </a:bodyPr>
          <a:lstStyle/>
          <a:p>
            <a:pPr algn="l">
              <a:spcAft>
                <a:spcPts val="400"/>
              </a:spcAft>
            </a:pPr>
            <a:r>
              <a:rPr sz="1900" b="1" i="0">
                <a:solidFill>
                  <a:srgbClr val="0F172A"/>
                </a:solidFill>
                <a:latin typeface="Arial"/>
              </a:rPr>
              <a:t>Operations dashboard</a:t>
            </a:r>
          </a:p>
          <a:p>
            <a:pPr>
              <a:spcAft>
                <a:spcPts val="0"/>
              </a:spcAft>
            </a:pPr>
            <a:r>
              <a:rPr sz="1300" b="0" i="0">
                <a:solidFill>
                  <a:srgbClr val="64748B"/>
                </a:solidFill>
                <a:latin typeface="Arial"/>
              </a:rPr>
              <a:t>Show staff how many passengers are transferring between two trains at a junction.</a:t>
            </a:r>
          </a:p>
        </p:txBody>
      </p:sp>
      <p:sp>
        <p:nvSpPr>
          <p:cNvPr id="19" name="TextBox 18"/>
          <p:cNvSpPr txBox="1"/>
          <p:nvPr/>
        </p:nvSpPr>
        <p:spPr>
          <a:xfrm>
            <a:off x="658368" y="6126480"/>
            <a:ext cx="10874959" cy="365760"/>
          </a:xfrm>
          <a:prstGeom prst="rect">
            <a:avLst/>
          </a:prstGeom>
          <a:noFill/>
        </p:spPr>
        <p:txBody>
          <a:bodyPr wrap="square" anchor="t">
            <a:spAutoFit/>
          </a:bodyPr>
          <a:lstStyle/>
          <a:p>
            <a:pPr algn="l">
              <a:spcAft>
                <a:spcPts val="0"/>
              </a:spcAft>
            </a:pPr>
            <a:r>
              <a:rPr sz="1200" b="0" i="1">
                <a:solidFill>
                  <a:srgbClr val="64748B"/>
                </a:solidFill>
                <a:latin typeface="Arial"/>
              </a:rPr>
              <a:t>The first three serve passengers. The fourth serves the railway — and it is only possible because the first three already exist.</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58368" y="457200"/>
            <a:ext cx="10874959" cy="274320"/>
          </a:xfrm>
          <a:prstGeom prst="rect">
            <a:avLst/>
          </a:prstGeom>
          <a:noFill/>
        </p:spPr>
        <p:txBody>
          <a:bodyPr wrap="square" anchor="t">
            <a:spAutoFit/>
          </a:bodyPr>
          <a:lstStyle/>
          <a:p>
            <a:pPr algn="l">
              <a:spcAft>
                <a:spcPts val="0"/>
              </a:spcAft>
            </a:pPr>
            <a:r>
              <a:rPr sz="1100" b="1" i="0">
                <a:solidFill>
                  <a:srgbClr val="64748B"/>
                </a:solidFill>
                <a:latin typeface="Arial"/>
              </a:rPr>
              <a:t>CAPABILITIES 02 AND 03</a:t>
            </a:r>
          </a:p>
        </p:txBody>
      </p:sp>
      <p:sp>
        <p:nvSpPr>
          <p:cNvPr id="4" name="TextBox 3"/>
          <p:cNvSpPr txBox="1"/>
          <p:nvPr/>
        </p:nvSpPr>
        <p:spPr>
          <a:xfrm>
            <a:off x="658368" y="768096"/>
            <a:ext cx="10874959" cy="548640"/>
          </a:xfrm>
          <a:prstGeom prst="rect">
            <a:avLst/>
          </a:prstGeom>
          <a:noFill/>
        </p:spPr>
        <p:txBody>
          <a:bodyPr wrap="square" anchor="t">
            <a:spAutoFit/>
          </a:bodyPr>
          <a:lstStyle/>
          <a:p>
            <a:pPr algn="l">
              <a:spcAft>
                <a:spcPts val="0"/>
              </a:spcAft>
            </a:pPr>
            <a:r>
              <a:rPr sz="3000" b="1" i="0">
                <a:solidFill>
                  <a:srgbClr val="0F172A"/>
                </a:solidFill>
                <a:latin typeface="Arial"/>
              </a:rPr>
              <a:t>Where a connecting journey breaks</a:t>
            </a:r>
          </a:p>
        </p:txBody>
      </p:sp>
      <p:sp>
        <p:nvSpPr>
          <p:cNvPr id="5" name="Rectangle 4"/>
          <p:cNvSpPr/>
          <p:nvPr/>
        </p:nvSpPr>
        <p:spPr>
          <a:xfrm>
            <a:off x="658368" y="1371600"/>
            <a:ext cx="1005840" cy="38100"/>
          </a:xfrm>
          <a:prstGeom prst="rect">
            <a:avLst/>
          </a:prstGeom>
          <a:solidFill>
            <a:srgbClr val="0EA5E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658368" y="2157984"/>
            <a:ext cx="2468880" cy="1051560"/>
          </a:xfrm>
          <a:prstGeom prst="roundRect">
            <a:avLst>
              <a:gd name="adj" fmla="val 5000"/>
            </a:avLst>
          </a:prstGeom>
          <a:solidFill>
            <a:srgbClr val="F1F5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658368" y="2157984"/>
            <a:ext cx="50800" cy="1051560"/>
          </a:xfrm>
          <a:prstGeom prst="rect">
            <a:avLst/>
          </a:prstGeom>
          <a:solidFill>
            <a:srgbClr val="0EA5E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914400" y="2359152"/>
            <a:ext cx="2103120" cy="731520"/>
          </a:xfrm>
          <a:prstGeom prst="rect">
            <a:avLst/>
          </a:prstGeom>
          <a:noFill/>
        </p:spPr>
        <p:txBody>
          <a:bodyPr wrap="square" anchor="t">
            <a:spAutoFit/>
          </a:bodyPr>
          <a:lstStyle/>
          <a:p>
            <a:pPr algn="l">
              <a:spcAft>
                <a:spcPts val="200"/>
              </a:spcAft>
            </a:pPr>
            <a:r>
              <a:rPr sz="1800" b="1" i="0">
                <a:solidFill>
                  <a:srgbClr val="0F172A"/>
                </a:solidFill>
                <a:latin typeface="Arial"/>
              </a:rPr>
              <a:t>Train A</a:t>
            </a:r>
          </a:p>
          <a:p>
            <a:pPr>
              <a:spcAft>
                <a:spcPts val="0"/>
              </a:spcAft>
            </a:pPr>
            <a:r>
              <a:rPr sz="1200" b="0" i="0">
                <a:solidFill>
                  <a:srgbClr val="64748B"/>
                </a:solidFill>
                <a:latin typeface="Arial"/>
              </a:rPr>
              <a:t>Leg one</a:t>
            </a:r>
          </a:p>
        </p:txBody>
      </p:sp>
      <p:sp>
        <p:nvSpPr>
          <p:cNvPr id="9" name="Rounded Rectangle 8"/>
          <p:cNvSpPr/>
          <p:nvPr/>
        </p:nvSpPr>
        <p:spPr>
          <a:xfrm>
            <a:off x="4315968" y="2157984"/>
            <a:ext cx="2468880" cy="1051560"/>
          </a:xfrm>
          <a:prstGeom prst="roundRect">
            <a:avLst>
              <a:gd name="adj" fmla="val 5000"/>
            </a:avLst>
          </a:prstGeom>
          <a:solidFill>
            <a:srgbClr val="F1F5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4315968" y="2157984"/>
            <a:ext cx="50800" cy="1051560"/>
          </a:xfrm>
          <a:prstGeom prst="rect">
            <a:avLst/>
          </a:prstGeom>
          <a:solidFill>
            <a:srgbClr val="D9770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4572000" y="2359152"/>
            <a:ext cx="2103120" cy="731520"/>
          </a:xfrm>
          <a:prstGeom prst="rect">
            <a:avLst/>
          </a:prstGeom>
          <a:noFill/>
        </p:spPr>
        <p:txBody>
          <a:bodyPr wrap="square" anchor="t">
            <a:spAutoFit/>
          </a:bodyPr>
          <a:lstStyle/>
          <a:p>
            <a:pPr algn="l">
              <a:spcAft>
                <a:spcPts val="200"/>
              </a:spcAft>
            </a:pPr>
            <a:r>
              <a:rPr sz="1800" b="1" i="0">
                <a:solidFill>
                  <a:srgbClr val="0F172A"/>
                </a:solidFill>
                <a:latin typeface="Arial"/>
              </a:rPr>
              <a:t>Junction</a:t>
            </a:r>
          </a:p>
          <a:p>
            <a:pPr>
              <a:spcAft>
                <a:spcPts val="0"/>
              </a:spcAft>
            </a:pPr>
            <a:r>
              <a:rPr sz="1200" b="0" i="0">
                <a:solidFill>
                  <a:srgbClr val="64748B"/>
                </a:solidFill>
                <a:latin typeface="Arial"/>
              </a:rPr>
              <a:t>Layover window</a:t>
            </a:r>
          </a:p>
        </p:txBody>
      </p:sp>
      <p:sp>
        <p:nvSpPr>
          <p:cNvPr id="12" name="Rounded Rectangle 11"/>
          <p:cNvSpPr/>
          <p:nvPr/>
        </p:nvSpPr>
        <p:spPr>
          <a:xfrm>
            <a:off x="7973568" y="2157984"/>
            <a:ext cx="2468880" cy="1051560"/>
          </a:xfrm>
          <a:prstGeom prst="roundRect">
            <a:avLst>
              <a:gd name="adj" fmla="val 5000"/>
            </a:avLst>
          </a:prstGeom>
          <a:solidFill>
            <a:srgbClr val="F1F5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7973568" y="2157984"/>
            <a:ext cx="50800" cy="1051560"/>
          </a:xfrm>
          <a:prstGeom prst="rect">
            <a:avLst/>
          </a:prstGeom>
          <a:solidFill>
            <a:srgbClr val="0EA5E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8229600" y="2359152"/>
            <a:ext cx="2103120" cy="731520"/>
          </a:xfrm>
          <a:prstGeom prst="rect">
            <a:avLst/>
          </a:prstGeom>
          <a:noFill/>
        </p:spPr>
        <p:txBody>
          <a:bodyPr wrap="square" anchor="t">
            <a:spAutoFit/>
          </a:bodyPr>
          <a:lstStyle/>
          <a:p>
            <a:pPr algn="l">
              <a:spcAft>
                <a:spcPts val="200"/>
              </a:spcAft>
            </a:pPr>
            <a:r>
              <a:rPr sz="1800" b="1" i="0">
                <a:solidFill>
                  <a:srgbClr val="0F172A"/>
                </a:solidFill>
                <a:latin typeface="Arial"/>
              </a:rPr>
              <a:t>Train B</a:t>
            </a:r>
          </a:p>
          <a:p>
            <a:pPr>
              <a:spcAft>
                <a:spcPts val="0"/>
              </a:spcAft>
            </a:pPr>
            <a:r>
              <a:rPr sz="1200" b="0" i="0">
                <a:solidFill>
                  <a:srgbClr val="64748B"/>
                </a:solidFill>
                <a:latin typeface="Arial"/>
              </a:rPr>
              <a:t>Leg two</a:t>
            </a:r>
          </a:p>
        </p:txBody>
      </p:sp>
      <p:sp>
        <p:nvSpPr>
          <p:cNvPr id="15" name="Right Arrow 14"/>
          <p:cNvSpPr/>
          <p:nvPr/>
        </p:nvSpPr>
        <p:spPr>
          <a:xfrm>
            <a:off x="3264408" y="2542032"/>
            <a:ext cx="914400" cy="274320"/>
          </a:xfrm>
          <a:prstGeom prst="rightArrow">
            <a:avLst/>
          </a:prstGeom>
          <a:solidFill>
            <a:srgbClr val="CBD5E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ight Arrow 15"/>
          <p:cNvSpPr/>
          <p:nvPr/>
        </p:nvSpPr>
        <p:spPr>
          <a:xfrm>
            <a:off x="6922008" y="2542032"/>
            <a:ext cx="914400" cy="274320"/>
          </a:xfrm>
          <a:prstGeom prst="rightArrow">
            <a:avLst/>
          </a:prstGeom>
          <a:solidFill>
            <a:srgbClr val="CBD5E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658368" y="3575304"/>
            <a:ext cx="2926080" cy="1828800"/>
          </a:xfrm>
          <a:prstGeom prst="rect">
            <a:avLst/>
          </a:prstGeom>
          <a:noFill/>
        </p:spPr>
        <p:txBody>
          <a:bodyPr wrap="square" anchor="t">
            <a:spAutoFit/>
          </a:bodyPr>
          <a:lstStyle/>
          <a:p>
            <a:pPr algn="l">
              <a:spcAft>
                <a:spcPts val="500"/>
              </a:spcAft>
            </a:pPr>
            <a:r>
              <a:rPr sz="1400" b="1" i="0">
                <a:solidFill>
                  <a:srgbClr val="0F172A"/>
                </a:solidFill>
                <a:latin typeface="Arial"/>
              </a:rPr>
              <a:t>Risk 1 — leg one never confirms</a:t>
            </a:r>
          </a:p>
          <a:p>
            <a:pPr>
              <a:spcAft>
                <a:spcPts val="0"/>
              </a:spcAft>
            </a:pPr>
            <a:r>
              <a:rPr sz="1300" b="0" i="0">
                <a:solidFill>
                  <a:srgbClr val="64748B"/>
                </a:solidFill>
                <a:latin typeface="Arial"/>
              </a:rPr>
              <a:t>The confirmation model scores this before the passenger commits to the journey.</a:t>
            </a:r>
          </a:p>
        </p:txBody>
      </p:sp>
      <p:sp>
        <p:nvSpPr>
          <p:cNvPr id="18" name="TextBox 17"/>
          <p:cNvSpPr txBox="1"/>
          <p:nvPr/>
        </p:nvSpPr>
        <p:spPr>
          <a:xfrm>
            <a:off x="4315968" y="3575304"/>
            <a:ext cx="2926080" cy="1828800"/>
          </a:xfrm>
          <a:prstGeom prst="rect">
            <a:avLst/>
          </a:prstGeom>
          <a:noFill/>
        </p:spPr>
        <p:txBody>
          <a:bodyPr wrap="square" anchor="t">
            <a:spAutoFit/>
          </a:bodyPr>
          <a:lstStyle/>
          <a:p>
            <a:pPr algn="l">
              <a:spcAft>
                <a:spcPts val="500"/>
              </a:spcAft>
            </a:pPr>
            <a:r>
              <a:rPr sz="1400" b="1" i="0">
                <a:solidFill>
                  <a:srgbClr val="0F172A"/>
                </a:solidFill>
                <a:latin typeface="Arial"/>
              </a:rPr>
              <a:t>Risk 2 — the delay eats the layover</a:t>
            </a:r>
          </a:p>
          <a:p>
            <a:pPr>
              <a:spcAft>
                <a:spcPts val="0"/>
              </a:spcAft>
            </a:pPr>
            <a:r>
              <a:rPr sz="1300" b="0" i="0">
                <a:solidFill>
                  <a:srgbClr val="64748B"/>
                </a:solidFill>
                <a:latin typeface="Arial"/>
              </a:rPr>
              <a:t>The first train's historical delay behaviour is compared against the time available at the junction.</a:t>
            </a:r>
          </a:p>
        </p:txBody>
      </p:sp>
      <p:sp>
        <p:nvSpPr>
          <p:cNvPr id="19" name="TextBox 18"/>
          <p:cNvSpPr txBox="1"/>
          <p:nvPr/>
        </p:nvSpPr>
        <p:spPr>
          <a:xfrm>
            <a:off x="7973568" y="3575304"/>
            <a:ext cx="2926080" cy="1828800"/>
          </a:xfrm>
          <a:prstGeom prst="rect">
            <a:avLst/>
          </a:prstGeom>
          <a:noFill/>
        </p:spPr>
        <p:txBody>
          <a:bodyPr wrap="square" anchor="t">
            <a:spAutoFit/>
          </a:bodyPr>
          <a:lstStyle/>
          <a:p>
            <a:pPr algn="l">
              <a:spcAft>
                <a:spcPts val="500"/>
              </a:spcAft>
            </a:pPr>
            <a:r>
              <a:rPr sz="1400" b="1" i="0">
                <a:solidFill>
                  <a:srgbClr val="0F172A"/>
                </a:solidFill>
                <a:latin typeface="Arial"/>
              </a:rPr>
              <a:t>Risk 3 — leg two never confirms</a:t>
            </a:r>
          </a:p>
          <a:p>
            <a:pPr>
              <a:spcAft>
                <a:spcPts val="0"/>
              </a:spcAft>
            </a:pPr>
            <a:r>
              <a:rPr sz="1300" b="0" i="0">
                <a:solidFill>
                  <a:srgbClr val="64748B"/>
                </a:solidFill>
                <a:latin typeface="Arial"/>
              </a:rPr>
              <a:t>Scored independently by the same model, then combined into one journey-level number.</a:t>
            </a:r>
          </a:p>
        </p:txBody>
      </p:sp>
      <p:sp>
        <p:nvSpPr>
          <p:cNvPr id="20" name="TextBox 19"/>
          <p:cNvSpPr txBox="1"/>
          <p:nvPr/>
        </p:nvSpPr>
        <p:spPr>
          <a:xfrm>
            <a:off x="658368" y="6080760"/>
            <a:ext cx="10874959" cy="411480"/>
          </a:xfrm>
          <a:prstGeom prst="rect">
            <a:avLst/>
          </a:prstGeom>
          <a:noFill/>
        </p:spPr>
        <p:txBody>
          <a:bodyPr wrap="square" anchor="t">
            <a:spAutoFit/>
          </a:bodyPr>
          <a:lstStyle/>
          <a:p>
            <a:pPr algn="l">
              <a:spcAft>
                <a:spcPts val="0"/>
              </a:spcAft>
            </a:pPr>
            <a:r>
              <a:rPr sz="1300" b="0" i="0">
                <a:solidFill>
                  <a:srgbClr val="0F172A"/>
                </a:solidFill>
                <a:latin typeface="Arial"/>
              </a:rPr>
              <a:t>The passenger sees one number for the whole journey, not three separate ones they have to reason about.</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58368" y="457200"/>
            <a:ext cx="10874959" cy="274320"/>
          </a:xfrm>
          <a:prstGeom prst="rect">
            <a:avLst/>
          </a:prstGeom>
          <a:noFill/>
        </p:spPr>
        <p:txBody>
          <a:bodyPr wrap="square" anchor="t">
            <a:spAutoFit/>
          </a:bodyPr>
          <a:lstStyle/>
          <a:p>
            <a:pPr algn="l">
              <a:spcAft>
                <a:spcPts val="0"/>
              </a:spcAft>
            </a:pPr>
            <a:r>
              <a:rPr sz="1100" b="1" i="0">
                <a:solidFill>
                  <a:srgbClr val="64748B"/>
                </a:solidFill>
                <a:latin typeface="Arial"/>
              </a:rPr>
              <a:t>CAPABILITY 04  ·  OPERATIONS</a:t>
            </a:r>
          </a:p>
        </p:txBody>
      </p:sp>
      <p:sp>
        <p:nvSpPr>
          <p:cNvPr id="4" name="TextBox 3"/>
          <p:cNvSpPr txBox="1"/>
          <p:nvPr/>
        </p:nvSpPr>
        <p:spPr>
          <a:xfrm>
            <a:off x="658368" y="768096"/>
            <a:ext cx="10874959" cy="548640"/>
          </a:xfrm>
          <a:prstGeom prst="rect">
            <a:avLst/>
          </a:prstGeom>
          <a:noFill/>
        </p:spPr>
        <p:txBody>
          <a:bodyPr wrap="square" anchor="t">
            <a:spAutoFit/>
          </a:bodyPr>
          <a:lstStyle/>
          <a:p>
            <a:pPr algn="l">
              <a:spcAft>
                <a:spcPts val="0"/>
              </a:spcAft>
            </a:pPr>
            <a:r>
              <a:rPr sz="3000" b="1" i="0">
                <a:solidFill>
                  <a:srgbClr val="0F172A"/>
                </a:solidFill>
                <a:latin typeface="Arial"/>
              </a:rPr>
              <a:t>The view the railway does not currently have</a:t>
            </a:r>
          </a:p>
        </p:txBody>
      </p:sp>
      <p:sp>
        <p:nvSpPr>
          <p:cNvPr id="5" name="Rectangle 4"/>
          <p:cNvSpPr/>
          <p:nvPr/>
        </p:nvSpPr>
        <p:spPr>
          <a:xfrm>
            <a:off x="658368" y="1371600"/>
            <a:ext cx="1005840" cy="38100"/>
          </a:xfrm>
          <a:prstGeom prst="rect">
            <a:avLst/>
          </a:prstGeom>
          <a:solidFill>
            <a:srgbClr val="0EA5E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58368" y="1700784"/>
            <a:ext cx="5760720" cy="4023360"/>
          </a:xfrm>
          <a:prstGeom prst="rect">
            <a:avLst/>
          </a:prstGeom>
          <a:noFill/>
        </p:spPr>
        <p:txBody>
          <a:bodyPr wrap="square" anchor="t">
            <a:spAutoFit/>
          </a:bodyPr>
          <a:lstStyle/>
          <a:p>
            <a:pPr algn="l">
              <a:spcAft>
                <a:spcPts val="1600"/>
              </a:spcAft>
            </a:pPr>
            <a:r>
              <a:rPr sz="1600" b="0" i="0">
                <a:solidFill>
                  <a:srgbClr val="0F172A"/>
                </a:solidFill>
                <a:latin typeface="Arial"/>
              </a:rPr>
              <a:t>Once the system knows every passenger's full journey, it knows something the railway does not:</a:t>
            </a:r>
          </a:p>
          <a:p>
            <a:pPr>
              <a:spcAft>
                <a:spcPts val="1600"/>
              </a:spcAft>
            </a:pPr>
            <a:r>
              <a:rPr sz="1900" b="1" i="0">
                <a:solidFill>
                  <a:srgbClr val="0F172A"/>
                </a:solidFill>
                <a:latin typeface="Arial"/>
              </a:rPr>
              <a:t>How many people on a delayed train are about to miss a specific connection, at a specific junction, right now.</a:t>
            </a:r>
          </a:p>
          <a:p>
            <a:pPr>
              <a:spcAft>
                <a:spcPts val="0"/>
              </a:spcAft>
            </a:pPr>
            <a:r>
              <a:rPr sz="1500" b="0" i="0">
                <a:solidFill>
                  <a:srgbClr val="64748B"/>
                </a:solidFill>
                <a:latin typeface="Arial"/>
              </a:rPr>
              <a:t>Today that handover is invisible. Each train is managed on its own schedule, so a late arrival and a punctual departure are treated as two unrelated events — even when the same passengers are on both.</a:t>
            </a:r>
          </a:p>
        </p:txBody>
      </p:sp>
      <p:sp>
        <p:nvSpPr>
          <p:cNvPr id="7" name="Rounded Rectangle 6"/>
          <p:cNvSpPr/>
          <p:nvPr/>
        </p:nvSpPr>
        <p:spPr>
          <a:xfrm>
            <a:off x="6876288" y="1700784"/>
            <a:ext cx="4657039" cy="3977639"/>
          </a:xfrm>
          <a:prstGeom prst="roundRect">
            <a:avLst>
              <a:gd name="adj" fmla="val 5000"/>
            </a:avLst>
          </a:prstGeom>
          <a:solidFill>
            <a:srgbClr val="0F17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242048" y="2020824"/>
            <a:ext cx="3925519" cy="3383280"/>
          </a:xfrm>
          <a:prstGeom prst="rect">
            <a:avLst/>
          </a:prstGeom>
          <a:noFill/>
        </p:spPr>
        <p:txBody>
          <a:bodyPr wrap="square" anchor="t">
            <a:spAutoFit/>
          </a:bodyPr>
          <a:lstStyle/>
          <a:p>
            <a:pPr algn="l">
              <a:spcAft>
                <a:spcPts val="1400"/>
              </a:spcAft>
            </a:pPr>
            <a:r>
              <a:rPr sz="1000" b="1" i="0">
                <a:solidFill>
                  <a:srgbClr val="0EA5E9"/>
                </a:solidFill>
                <a:latin typeface="Arial"/>
              </a:rPr>
              <a:t>WHAT A CONTROLLER WOULD SEE</a:t>
            </a:r>
          </a:p>
          <a:p>
            <a:pPr>
              <a:spcAft>
                <a:spcPts val="1000"/>
              </a:spcAft>
            </a:pPr>
            <a:r>
              <a:rPr sz="1500" b="1" i="0">
                <a:solidFill>
                  <a:srgbClr val="FFFFFF"/>
                </a:solidFill>
                <a:latin typeface="Arial"/>
              </a:rPr>
              <a:t>Train A is running late into this junction.</a:t>
            </a:r>
          </a:p>
          <a:p>
            <a:pPr>
              <a:spcAft>
                <a:spcPts val="1600"/>
              </a:spcAft>
            </a:pPr>
            <a:r>
              <a:rPr sz="1400" b="0" i="0">
                <a:solidFill>
                  <a:srgbClr val="CBD5E1"/>
                </a:solidFill>
                <a:latin typeface="Arial"/>
              </a:rPr>
              <a:t>A number of passengers on board are booked onto Train B, which is scheduled to depart before Train A now arrives.</a:t>
            </a:r>
          </a:p>
          <a:p>
            <a:pPr>
              <a:spcAft>
                <a:spcPts val="800"/>
              </a:spcAft>
            </a:pPr>
            <a:r>
              <a:rPr sz="1300" b="1" i="0">
                <a:solidFill>
                  <a:srgbClr val="0EA5E9"/>
                </a:solidFill>
                <a:latin typeface="Arial"/>
              </a:rPr>
              <a:t>So the choice becomes explicit:</a:t>
            </a:r>
          </a:p>
          <a:p>
            <a:pPr>
              <a:spcAft>
                <a:spcPts val="600"/>
              </a:spcAft>
            </a:pPr>
            <a:r>
              <a:rPr sz="1400" b="0" i="0">
                <a:solidFill>
                  <a:srgbClr val="FFFFFF"/>
                </a:solidFill>
                <a:latin typeface="Arial"/>
              </a:rPr>
              <a:t>•   Hold Train B briefly and keep them moving</a:t>
            </a:r>
          </a:p>
          <a:p>
            <a:pPr>
              <a:spcAft>
                <a:spcPts val="600"/>
              </a:spcAft>
            </a:pPr>
            <a:r>
              <a:rPr sz="1400" b="0" i="0">
                <a:solidFill>
                  <a:srgbClr val="FFFFFF"/>
                </a:solidFill>
                <a:latin typeface="Arial"/>
              </a:rPr>
              <a:t>•   Let it go and arrange for those passengers</a:t>
            </a:r>
          </a:p>
          <a:p>
            <a:pPr>
              <a:spcAft>
                <a:spcPts val="0"/>
              </a:spcAft>
            </a:pPr>
            <a:r>
              <a:rPr sz="1400" b="0" i="0">
                <a:solidFill>
                  <a:srgbClr val="FFFFFF"/>
                </a:solidFill>
                <a:latin typeface="Arial"/>
              </a:rPr>
              <a:t>•   Do nothing — but now it is a decision, not an oversight</a:t>
            </a:r>
          </a:p>
        </p:txBody>
      </p:sp>
      <p:sp>
        <p:nvSpPr>
          <p:cNvPr id="9" name="TextBox 8"/>
          <p:cNvSpPr txBox="1"/>
          <p:nvPr/>
        </p:nvSpPr>
        <p:spPr>
          <a:xfrm>
            <a:off x="658368" y="6126480"/>
            <a:ext cx="10874959" cy="365760"/>
          </a:xfrm>
          <a:prstGeom prst="rect">
            <a:avLst/>
          </a:prstGeom>
          <a:noFill/>
        </p:spPr>
        <p:txBody>
          <a:bodyPr wrap="square" anchor="t">
            <a:spAutoFit/>
          </a:bodyPr>
          <a:lstStyle/>
          <a:p>
            <a:pPr algn="l">
              <a:spcAft>
                <a:spcPts val="0"/>
              </a:spcAft>
            </a:pPr>
            <a:r>
              <a:rPr sz="1200" b="0" i="1">
                <a:solidFill>
                  <a:srgbClr val="64748B"/>
                </a:solidFill>
                <a:latin typeface="Arial"/>
              </a:rPr>
              <a:t>A short, informed hold can protect a whole group of journeys. Without this view, nobody knows the hold was worth making.</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58368" y="457200"/>
            <a:ext cx="10874959" cy="274320"/>
          </a:xfrm>
          <a:prstGeom prst="rect">
            <a:avLst/>
          </a:prstGeom>
          <a:noFill/>
        </p:spPr>
        <p:txBody>
          <a:bodyPr wrap="square" anchor="t">
            <a:spAutoFit/>
          </a:bodyPr>
          <a:lstStyle/>
          <a:p>
            <a:pPr algn="l">
              <a:spcAft>
                <a:spcPts val="0"/>
              </a:spcAft>
            </a:pPr>
            <a:r>
              <a:rPr sz="1100" b="1" i="0">
                <a:solidFill>
                  <a:srgbClr val="64748B"/>
                </a:solidFill>
                <a:latin typeface="Arial"/>
              </a:rPr>
              <a:t>END TO END</a:t>
            </a:r>
          </a:p>
        </p:txBody>
      </p:sp>
      <p:sp>
        <p:nvSpPr>
          <p:cNvPr id="4" name="TextBox 3"/>
          <p:cNvSpPr txBox="1"/>
          <p:nvPr/>
        </p:nvSpPr>
        <p:spPr>
          <a:xfrm>
            <a:off x="658368" y="768096"/>
            <a:ext cx="10874959" cy="548640"/>
          </a:xfrm>
          <a:prstGeom prst="rect">
            <a:avLst/>
          </a:prstGeom>
          <a:noFill/>
        </p:spPr>
        <p:txBody>
          <a:bodyPr wrap="square" anchor="t">
            <a:spAutoFit/>
          </a:bodyPr>
          <a:lstStyle/>
          <a:p>
            <a:pPr algn="l">
              <a:spcAft>
                <a:spcPts val="0"/>
              </a:spcAft>
            </a:pPr>
            <a:r>
              <a:rPr sz="3000" b="1" i="0">
                <a:solidFill>
                  <a:srgbClr val="0F172A"/>
                </a:solidFill>
                <a:latin typeface="Arial"/>
              </a:rPr>
              <a:t>How it works</a:t>
            </a:r>
          </a:p>
        </p:txBody>
      </p:sp>
      <p:sp>
        <p:nvSpPr>
          <p:cNvPr id="5" name="Rectangle 4"/>
          <p:cNvSpPr/>
          <p:nvPr/>
        </p:nvSpPr>
        <p:spPr>
          <a:xfrm>
            <a:off x="658368" y="1371600"/>
            <a:ext cx="1005840" cy="38100"/>
          </a:xfrm>
          <a:prstGeom prst="rect">
            <a:avLst/>
          </a:prstGeom>
          <a:solidFill>
            <a:srgbClr val="0EA5E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58368" y="1700784"/>
            <a:ext cx="10874959" cy="4334256"/>
          </a:xfrm>
          <a:prstGeom prst="rect">
            <a:avLst/>
          </a:prstGeom>
          <a:noFill/>
        </p:spPr>
        <p:txBody>
          <a:bodyPr wrap="square" anchor="t">
            <a:spAutoFit/>
          </a:bodyPr>
          <a:lstStyle/>
          <a:p>
            <a:pPr algn="l">
              <a:spcAft>
                <a:spcPts val="300"/>
              </a:spcAft>
            </a:pPr>
            <a:r>
              <a:rPr sz="1900" b="1" i="0">
                <a:solidFill>
                  <a:srgbClr val="0F172A"/>
                </a:solidFill>
                <a:latin typeface="Arial"/>
              </a:rPr>
              <a:t>Read the ticket</a:t>
            </a:r>
          </a:p>
          <a:p>
            <a:pPr>
              <a:spcAft>
                <a:spcPts val="1700"/>
              </a:spcAft>
            </a:pPr>
            <a:r>
              <a:rPr sz="1500" b="0" i="0">
                <a:solidFill>
                  <a:srgbClr val="64748B"/>
                </a:solidFill>
                <a:latin typeface="Arial"/>
              </a:rPr>
              <a:t>A PNR lookup returns train, class, quota, booking status and current status. One adapter normalises every provider into a single internal shape.</a:t>
            </a:r>
          </a:p>
          <a:p>
            <a:pPr>
              <a:spcAft>
                <a:spcPts val="300"/>
              </a:spcAft>
            </a:pPr>
            <a:r>
              <a:rPr sz="1900" b="1" i="0">
                <a:solidFill>
                  <a:srgbClr val="0F172A"/>
                </a:solidFill>
                <a:latin typeface="Arial"/>
              </a:rPr>
              <a:t>Predict confirmation</a:t>
            </a:r>
          </a:p>
          <a:p>
            <a:pPr>
              <a:spcAft>
                <a:spcPts val="1700"/>
              </a:spcAft>
            </a:pPr>
            <a:r>
              <a:rPr sz="1500" b="0" i="0">
                <a:solidFill>
                  <a:srgbClr val="64748B"/>
                </a:solidFill>
                <a:latin typeface="Arial"/>
              </a:rPr>
              <a:t>A machine learning model trained on real waitlisted tickets scores each leg, and explains which factors moved the number.</a:t>
            </a:r>
          </a:p>
          <a:p>
            <a:pPr>
              <a:spcAft>
                <a:spcPts val="300"/>
              </a:spcAft>
            </a:pPr>
            <a:r>
              <a:rPr sz="1900" b="1" i="0">
                <a:solidFill>
                  <a:srgbClr val="0F172A"/>
                </a:solidFill>
                <a:latin typeface="Arial"/>
              </a:rPr>
              <a:t>Build and score routes</a:t>
            </a:r>
          </a:p>
          <a:p>
            <a:pPr>
              <a:spcAft>
                <a:spcPts val="1700"/>
              </a:spcAft>
            </a:pPr>
            <a:r>
              <a:rPr sz="1500" b="0" i="0">
                <a:solidFill>
                  <a:srgbClr val="64748B"/>
                </a:solidFill>
                <a:latin typeface="Arial"/>
              </a:rPr>
              <a:t>Direct and multi-leg options between two cities, each scored for confirmation and for the risk that a delay breaks the connection.</a:t>
            </a:r>
          </a:p>
          <a:p>
            <a:pPr>
              <a:spcAft>
                <a:spcPts val="300"/>
              </a:spcAft>
            </a:pPr>
            <a:r>
              <a:rPr sz="1900" b="1" i="0">
                <a:solidFill>
                  <a:srgbClr val="0F172A"/>
                </a:solidFill>
                <a:latin typeface="Arial"/>
              </a:rPr>
              <a:t>Aggregate for operations</a:t>
            </a:r>
          </a:p>
          <a:p>
            <a:pPr>
              <a:spcAft>
                <a:spcPts val="1700"/>
              </a:spcAft>
            </a:pPr>
            <a:r>
              <a:rPr sz="1500" b="0" i="0">
                <a:solidFill>
                  <a:srgbClr val="64748B"/>
                </a:solidFill>
                <a:latin typeface="Arial"/>
              </a:rPr>
              <a:t>Passenger journeys sharing an interchange are grouped by junction and train pair, turning individual risk into a decision staff can act on.</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58368" y="457200"/>
            <a:ext cx="10874959" cy="274320"/>
          </a:xfrm>
          <a:prstGeom prst="rect">
            <a:avLst/>
          </a:prstGeom>
          <a:noFill/>
        </p:spPr>
        <p:txBody>
          <a:bodyPr wrap="square" anchor="t">
            <a:spAutoFit/>
          </a:bodyPr>
          <a:lstStyle/>
          <a:p>
            <a:pPr algn="l">
              <a:spcAft>
                <a:spcPts val="0"/>
              </a:spcAft>
            </a:pPr>
            <a:r>
              <a:rPr sz="1100" b="1" i="0">
                <a:solidFill>
                  <a:srgbClr val="64748B"/>
                </a:solidFill>
                <a:latin typeface="Arial"/>
              </a:rPr>
              <a:t>UNDER THE HOOD</a:t>
            </a:r>
          </a:p>
        </p:txBody>
      </p:sp>
      <p:sp>
        <p:nvSpPr>
          <p:cNvPr id="4" name="TextBox 3"/>
          <p:cNvSpPr txBox="1"/>
          <p:nvPr/>
        </p:nvSpPr>
        <p:spPr>
          <a:xfrm>
            <a:off x="658368" y="768096"/>
            <a:ext cx="10874959" cy="548640"/>
          </a:xfrm>
          <a:prstGeom prst="rect">
            <a:avLst/>
          </a:prstGeom>
          <a:noFill/>
        </p:spPr>
        <p:txBody>
          <a:bodyPr wrap="square" anchor="t">
            <a:spAutoFit/>
          </a:bodyPr>
          <a:lstStyle/>
          <a:p>
            <a:pPr algn="l">
              <a:spcAft>
                <a:spcPts val="0"/>
              </a:spcAft>
            </a:pPr>
            <a:r>
              <a:rPr sz="3000" b="1" i="0">
                <a:solidFill>
                  <a:srgbClr val="0F172A"/>
                </a:solidFill>
                <a:latin typeface="Arial"/>
              </a:rPr>
              <a:t>The prediction engine</a:t>
            </a:r>
          </a:p>
        </p:txBody>
      </p:sp>
      <p:sp>
        <p:nvSpPr>
          <p:cNvPr id="5" name="Rectangle 4"/>
          <p:cNvSpPr/>
          <p:nvPr/>
        </p:nvSpPr>
        <p:spPr>
          <a:xfrm>
            <a:off x="658368" y="1371600"/>
            <a:ext cx="1005840" cy="38100"/>
          </a:xfrm>
          <a:prstGeom prst="rect">
            <a:avLst/>
          </a:prstGeom>
          <a:solidFill>
            <a:srgbClr val="0EA5E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58368" y="1700784"/>
            <a:ext cx="5486400" cy="3931920"/>
          </a:xfrm>
          <a:prstGeom prst="rect">
            <a:avLst/>
          </a:prstGeom>
          <a:noFill/>
        </p:spPr>
        <p:txBody>
          <a:bodyPr wrap="square" anchor="t">
            <a:spAutoFit/>
          </a:bodyPr>
          <a:lstStyle/>
          <a:p>
            <a:pPr algn="l">
              <a:spcAft>
                <a:spcPts val="600"/>
              </a:spcAft>
            </a:pPr>
            <a:r>
              <a:rPr sz="1800" b="1" i="0">
                <a:solidFill>
                  <a:srgbClr val="0F172A"/>
                </a:solidFill>
                <a:latin typeface="Arial"/>
              </a:rPr>
              <a:t>Trained only on verified real data</a:t>
            </a:r>
          </a:p>
          <a:p>
            <a:pPr>
              <a:spcAft>
                <a:spcPts val="1600"/>
              </a:spcAft>
            </a:pPr>
            <a:r>
              <a:rPr sz="1500" b="0" i="0">
                <a:solidFill>
                  <a:srgbClr val="64748B"/>
                </a:solidFill>
                <a:latin typeface="Arial"/>
              </a:rPr>
              <a:t>We audited three public datasets and used the one that held up. One was fabricated — sequential ticket numbers and impossible train and class combinations — so we discarded it.</a:t>
            </a:r>
          </a:p>
          <a:p>
            <a:pPr>
              <a:spcAft>
                <a:spcPts val="600"/>
              </a:spcAft>
            </a:pPr>
            <a:r>
              <a:rPr sz="1800" b="1" i="0">
                <a:solidFill>
                  <a:srgbClr val="0F172A"/>
                </a:solidFill>
                <a:latin typeface="Arial"/>
              </a:rPr>
              <a:t>We deleted our own first model too</a:t>
            </a:r>
          </a:p>
          <a:p>
            <a:pPr>
              <a:spcAft>
                <a:spcPts val="0"/>
              </a:spcAft>
            </a:pPr>
            <a:r>
              <a:rPr sz="1500" b="0" i="0">
                <a:solidFill>
                  <a:srgbClr val="64748B"/>
                </a:solidFill>
                <a:latin typeface="Arial"/>
              </a:rPr>
              <a:t>It was trained on data we generated ourselves, which meant it could only re-learn our own assumptions. It would have scored well and known nothing.</a:t>
            </a:r>
          </a:p>
        </p:txBody>
      </p:sp>
      <p:sp>
        <p:nvSpPr>
          <p:cNvPr id="7" name="TextBox 6"/>
          <p:cNvSpPr txBox="1"/>
          <p:nvPr/>
        </p:nvSpPr>
        <p:spPr>
          <a:xfrm>
            <a:off x="6601968" y="1700784"/>
            <a:ext cx="4572000" cy="3931920"/>
          </a:xfrm>
          <a:prstGeom prst="rect">
            <a:avLst/>
          </a:prstGeom>
          <a:noFill/>
        </p:spPr>
        <p:txBody>
          <a:bodyPr wrap="square" anchor="t">
            <a:spAutoFit/>
          </a:bodyPr>
          <a:lstStyle/>
          <a:p>
            <a:pPr algn="l">
              <a:spcAft>
                <a:spcPts val="1200"/>
              </a:spcAft>
            </a:pPr>
            <a:r>
              <a:rPr sz="1000" b="1" i="0">
                <a:solidFill>
                  <a:srgbClr val="0EA5E9"/>
                </a:solidFill>
                <a:latin typeface="Arial"/>
              </a:rPr>
              <a:t>WHAT THE MODEL READS</a:t>
            </a:r>
          </a:p>
          <a:p>
            <a:pPr>
              <a:spcAft>
                <a:spcPts val="1000"/>
              </a:spcAft>
            </a:pPr>
            <a:r>
              <a:rPr sz="1600" b="0" i="0">
                <a:solidFill>
                  <a:srgbClr val="0F172A"/>
                </a:solidFill>
                <a:latin typeface="Arial"/>
              </a:rPr>
              <a:t>•   Travel class</a:t>
            </a:r>
          </a:p>
          <a:p>
            <a:pPr>
              <a:spcAft>
                <a:spcPts val="1000"/>
              </a:spcAft>
            </a:pPr>
            <a:r>
              <a:rPr sz="1600" b="0" i="0">
                <a:solidFill>
                  <a:srgbClr val="0F172A"/>
                </a:solidFill>
                <a:latin typeface="Arial"/>
              </a:rPr>
              <a:t>•   Waitlist position when booked</a:t>
            </a:r>
          </a:p>
          <a:p>
            <a:pPr>
              <a:spcAft>
                <a:spcPts val="1000"/>
              </a:spcAft>
            </a:pPr>
            <a:r>
              <a:rPr sz="1600" b="0" i="0">
                <a:solidFill>
                  <a:srgbClr val="0F172A"/>
                </a:solidFill>
                <a:latin typeface="Arial"/>
              </a:rPr>
              <a:t>•   Current waitlist position</a:t>
            </a:r>
          </a:p>
          <a:p>
            <a:pPr>
              <a:spcAft>
                <a:spcPts val="1000"/>
              </a:spcAft>
            </a:pPr>
            <a:r>
              <a:rPr sz="1600" b="0" i="0">
                <a:solidFill>
                  <a:srgbClr val="0F172A"/>
                </a:solidFill>
                <a:latin typeface="Arial"/>
              </a:rPr>
              <a:t>•   Days until the journey</a:t>
            </a:r>
          </a:p>
          <a:p>
            <a:pPr>
              <a:spcAft>
                <a:spcPts val="1400"/>
              </a:spcAft>
            </a:pPr>
            <a:r>
              <a:rPr sz="1400" b="0" i="0">
                <a:solidFill>
                  <a:srgbClr val="64748B"/>
                </a:solidFill>
                <a:latin typeface="Arial"/>
              </a:rPr>
              <a:t>Every input comes straight from the ticket lookup. Nothing is estimated, and nothing is used in training that the live system cannot actually obtain.</a:t>
            </a:r>
          </a:p>
          <a:p>
            <a:pPr>
              <a:spcAft>
                <a:spcPts val="0"/>
              </a:spcAft>
            </a:pPr>
            <a:r>
              <a:rPr sz="1400" b="0" i="0">
                <a:solidFill>
                  <a:srgbClr val="64748B"/>
                </a:solidFill>
                <a:latin typeface="Arial"/>
              </a:rPr>
              <a:t>Delay behaviour per train and per route feeds the connection risk separately.</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58368" y="457200"/>
            <a:ext cx="10874959" cy="274320"/>
          </a:xfrm>
          <a:prstGeom prst="rect">
            <a:avLst/>
          </a:prstGeom>
          <a:noFill/>
        </p:spPr>
        <p:txBody>
          <a:bodyPr wrap="square" anchor="t">
            <a:spAutoFit/>
          </a:bodyPr>
          <a:lstStyle/>
          <a:p>
            <a:pPr algn="l">
              <a:spcAft>
                <a:spcPts val="0"/>
              </a:spcAft>
            </a:pPr>
            <a:r>
              <a:rPr sz="1100" b="1" i="0">
                <a:solidFill>
                  <a:srgbClr val="64748B"/>
                </a:solidFill>
                <a:latin typeface="Arial"/>
              </a:rPr>
              <a:t>ENGINEERING</a:t>
            </a:r>
          </a:p>
        </p:txBody>
      </p:sp>
      <p:sp>
        <p:nvSpPr>
          <p:cNvPr id="4" name="TextBox 3"/>
          <p:cNvSpPr txBox="1"/>
          <p:nvPr/>
        </p:nvSpPr>
        <p:spPr>
          <a:xfrm>
            <a:off x="658368" y="768096"/>
            <a:ext cx="10874959" cy="548640"/>
          </a:xfrm>
          <a:prstGeom prst="rect">
            <a:avLst/>
          </a:prstGeom>
          <a:noFill/>
        </p:spPr>
        <p:txBody>
          <a:bodyPr wrap="square" anchor="t">
            <a:spAutoFit/>
          </a:bodyPr>
          <a:lstStyle/>
          <a:p>
            <a:pPr algn="l">
              <a:spcAft>
                <a:spcPts val="0"/>
              </a:spcAft>
            </a:pPr>
            <a:r>
              <a:rPr sz="3000" b="1" i="0">
                <a:solidFill>
                  <a:srgbClr val="0F172A"/>
                </a:solidFill>
                <a:latin typeface="Arial"/>
              </a:rPr>
              <a:t>Built and deployed</a:t>
            </a:r>
          </a:p>
        </p:txBody>
      </p:sp>
      <p:sp>
        <p:nvSpPr>
          <p:cNvPr id="5" name="Rectangle 4"/>
          <p:cNvSpPr/>
          <p:nvPr/>
        </p:nvSpPr>
        <p:spPr>
          <a:xfrm>
            <a:off x="658368" y="1371600"/>
            <a:ext cx="1005840" cy="38100"/>
          </a:xfrm>
          <a:prstGeom prst="rect">
            <a:avLst/>
          </a:prstGeom>
          <a:solidFill>
            <a:srgbClr val="0EA5E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58368" y="1700784"/>
            <a:ext cx="10874959" cy="4334256"/>
          </a:xfrm>
          <a:prstGeom prst="rect">
            <a:avLst/>
          </a:prstGeom>
          <a:noFill/>
        </p:spPr>
        <p:txBody>
          <a:bodyPr wrap="square" anchor="t">
            <a:spAutoFit/>
          </a:bodyPr>
          <a:lstStyle/>
          <a:p>
            <a:pPr algn="l">
              <a:spcAft>
                <a:spcPts val="300"/>
              </a:spcAft>
            </a:pPr>
            <a:r>
              <a:rPr sz="1900" b="1" i="0">
                <a:solidFill>
                  <a:srgbClr val="0F172A"/>
                </a:solidFill>
                <a:latin typeface="Arial"/>
              </a:rPr>
              <a:t>Backend  ·  Python, FastAPI, scikit-learn</a:t>
            </a:r>
          </a:p>
          <a:p>
            <a:pPr>
              <a:spcAft>
                <a:spcPts val="1700"/>
              </a:spcAft>
            </a:pPr>
            <a:r>
              <a:rPr sz="1500" b="0" i="0">
                <a:solidFill>
                  <a:srgbClr val="64748B"/>
                </a:solidFill>
                <a:latin typeface="Arial"/>
              </a:rPr>
              <a:t>A REST API serving predictions, with an endpoint that publishes the model's own provenance so its numbers can be verified against the running service.</a:t>
            </a:r>
          </a:p>
          <a:p>
            <a:pPr>
              <a:spcAft>
                <a:spcPts val="300"/>
              </a:spcAft>
            </a:pPr>
            <a:r>
              <a:rPr sz="1900" b="1" i="0">
                <a:solidFill>
                  <a:srgbClr val="0F172A"/>
                </a:solidFill>
                <a:latin typeface="Arial"/>
              </a:rPr>
              <a:t>Web  ·  HTML, CSS, JavaScript</a:t>
            </a:r>
          </a:p>
          <a:p>
            <a:pPr>
              <a:spcAft>
                <a:spcPts val="1700"/>
              </a:spcAft>
            </a:pPr>
            <a:r>
              <a:rPr sz="1500" b="0" i="0">
                <a:solidFill>
                  <a:srgbClr val="64748B"/>
                </a:solidFill>
                <a:latin typeface="Arial"/>
              </a:rPr>
              <a:t>No build step. Detects whether it is running locally or deployed and selects the right API automatically.</a:t>
            </a:r>
          </a:p>
          <a:p>
            <a:pPr>
              <a:spcAft>
                <a:spcPts val="300"/>
              </a:spcAft>
            </a:pPr>
            <a:r>
              <a:rPr sz="1900" b="1" i="0">
                <a:solidFill>
                  <a:srgbClr val="0F172A"/>
                </a:solidFill>
                <a:latin typeface="Arial"/>
              </a:rPr>
              <a:t>Mobile  ·  React Native via Expo</a:t>
            </a:r>
          </a:p>
          <a:p>
            <a:pPr>
              <a:spcAft>
                <a:spcPts val="1700"/>
              </a:spcAft>
            </a:pPr>
            <a:r>
              <a:rPr sz="1500" b="0" i="0">
                <a:solidFill>
                  <a:srgbClr val="64748B"/>
                </a:solidFill>
                <a:latin typeface="Arial"/>
              </a:rPr>
              <a:t>The same journey flow on a phone, pointed at the same deployed API.</a:t>
            </a:r>
          </a:p>
          <a:p>
            <a:pPr>
              <a:spcAft>
                <a:spcPts val="300"/>
              </a:spcAft>
            </a:pPr>
            <a:r>
              <a:rPr sz="1900" b="1" i="0">
                <a:solidFill>
                  <a:srgbClr val="0F172A"/>
                </a:solidFill>
                <a:latin typeface="Arial"/>
              </a:rPr>
              <a:t>Hosting  ·  Vercel and Render, deployed from GitHub</a:t>
            </a:r>
          </a:p>
          <a:p>
            <a:pPr>
              <a:spcAft>
                <a:spcPts val="1700"/>
              </a:spcAft>
            </a:pPr>
            <a:r>
              <a:rPr sz="1500" b="0" i="0">
                <a:solidFill>
                  <a:srgbClr val="64748B"/>
                </a:solidFill>
                <a:latin typeface="Arial"/>
              </a:rPr>
              <a:t>Live and publicly reachable, with slow cold starts surfaced to the user instead of leaving a frozen screen.</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58368" y="457200"/>
            <a:ext cx="10874959" cy="274320"/>
          </a:xfrm>
          <a:prstGeom prst="rect">
            <a:avLst/>
          </a:prstGeom>
          <a:noFill/>
        </p:spPr>
        <p:txBody>
          <a:bodyPr wrap="square" anchor="t">
            <a:spAutoFit/>
          </a:bodyPr>
          <a:lstStyle/>
          <a:p>
            <a:pPr algn="l">
              <a:spcAft>
                <a:spcPts val="0"/>
              </a:spcAft>
            </a:pPr>
            <a:r>
              <a:rPr sz="1100" b="1" i="0">
                <a:solidFill>
                  <a:srgbClr val="64748B"/>
                </a:solidFill>
                <a:latin typeface="Arial"/>
              </a:rPr>
              <a:t>IMPACT</a:t>
            </a:r>
          </a:p>
        </p:txBody>
      </p:sp>
      <p:sp>
        <p:nvSpPr>
          <p:cNvPr id="4" name="TextBox 3"/>
          <p:cNvSpPr txBox="1"/>
          <p:nvPr/>
        </p:nvSpPr>
        <p:spPr>
          <a:xfrm>
            <a:off x="658368" y="768096"/>
            <a:ext cx="10874959" cy="548640"/>
          </a:xfrm>
          <a:prstGeom prst="rect">
            <a:avLst/>
          </a:prstGeom>
          <a:noFill/>
        </p:spPr>
        <p:txBody>
          <a:bodyPr wrap="square" anchor="t">
            <a:spAutoFit/>
          </a:bodyPr>
          <a:lstStyle/>
          <a:p>
            <a:pPr algn="l">
              <a:spcAft>
                <a:spcPts val="0"/>
              </a:spcAft>
            </a:pPr>
            <a:r>
              <a:rPr sz="3000" b="1" i="0">
                <a:solidFill>
                  <a:srgbClr val="0F172A"/>
                </a:solidFill>
                <a:latin typeface="Arial"/>
              </a:rPr>
              <a:t>Why it matters</a:t>
            </a:r>
          </a:p>
        </p:txBody>
      </p:sp>
      <p:sp>
        <p:nvSpPr>
          <p:cNvPr id="5" name="Rectangle 4"/>
          <p:cNvSpPr/>
          <p:nvPr/>
        </p:nvSpPr>
        <p:spPr>
          <a:xfrm>
            <a:off x="658368" y="1371600"/>
            <a:ext cx="1005840" cy="38100"/>
          </a:xfrm>
          <a:prstGeom prst="rect">
            <a:avLst/>
          </a:prstGeom>
          <a:solidFill>
            <a:srgbClr val="0EA5E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658368" y="1883664"/>
            <a:ext cx="5300319" cy="1828800"/>
          </a:xfrm>
          <a:prstGeom prst="roundRect">
            <a:avLst>
              <a:gd name="adj" fmla="val 5000"/>
            </a:avLst>
          </a:prstGeom>
          <a:solidFill>
            <a:srgbClr val="F1F5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658368" y="1883664"/>
            <a:ext cx="50800" cy="1828800"/>
          </a:xfrm>
          <a:prstGeom prst="rect">
            <a:avLst/>
          </a:prstGeom>
          <a:solidFill>
            <a:srgbClr val="0EA5E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987552" y="2157984"/>
            <a:ext cx="4641951" cy="1371600"/>
          </a:xfrm>
          <a:prstGeom prst="rect">
            <a:avLst/>
          </a:prstGeom>
          <a:noFill/>
        </p:spPr>
        <p:txBody>
          <a:bodyPr wrap="square" anchor="t">
            <a:spAutoFit/>
          </a:bodyPr>
          <a:lstStyle/>
          <a:p>
            <a:pPr algn="l">
              <a:spcAft>
                <a:spcPts val="800"/>
              </a:spcAft>
            </a:pPr>
            <a:r>
              <a:rPr sz="2100" b="1" i="0">
                <a:solidFill>
                  <a:srgbClr val="0F172A"/>
                </a:solidFill>
                <a:latin typeface="Arial"/>
              </a:rPr>
              <a:t>For passengers</a:t>
            </a:r>
          </a:p>
          <a:p>
            <a:pPr>
              <a:spcAft>
                <a:spcPts val="0"/>
              </a:spcAft>
            </a:pPr>
            <a:r>
              <a:rPr sz="1500" b="0" i="0">
                <a:solidFill>
                  <a:srgbClr val="64748B"/>
                </a:solidFill>
                <a:latin typeface="Arial"/>
              </a:rPr>
              <a:t>Decide with a number instead of a guess. Know whether to hold a ticket, whether a connection is realistic, and how much time to leave at a junction.</a:t>
            </a:r>
          </a:p>
        </p:txBody>
      </p:sp>
      <p:sp>
        <p:nvSpPr>
          <p:cNvPr id="9" name="Rounded Rectangle 8"/>
          <p:cNvSpPr/>
          <p:nvPr/>
        </p:nvSpPr>
        <p:spPr>
          <a:xfrm>
            <a:off x="6233007" y="1883664"/>
            <a:ext cx="5300319" cy="1828800"/>
          </a:xfrm>
          <a:prstGeom prst="roundRect">
            <a:avLst>
              <a:gd name="adj" fmla="val 5000"/>
            </a:avLst>
          </a:prstGeom>
          <a:solidFill>
            <a:srgbClr val="F1F5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6233007" y="1883664"/>
            <a:ext cx="50800" cy="1828800"/>
          </a:xfrm>
          <a:prstGeom prst="rect">
            <a:avLst/>
          </a:prstGeom>
          <a:solidFill>
            <a:srgbClr val="05966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562191" y="2157984"/>
            <a:ext cx="4641951" cy="1371600"/>
          </a:xfrm>
          <a:prstGeom prst="rect">
            <a:avLst/>
          </a:prstGeom>
          <a:noFill/>
        </p:spPr>
        <p:txBody>
          <a:bodyPr wrap="square" anchor="t">
            <a:spAutoFit/>
          </a:bodyPr>
          <a:lstStyle/>
          <a:p>
            <a:pPr algn="l">
              <a:spcAft>
                <a:spcPts val="800"/>
              </a:spcAft>
            </a:pPr>
            <a:r>
              <a:rPr sz="2100" b="1" i="0">
                <a:solidFill>
                  <a:srgbClr val="0F172A"/>
                </a:solidFill>
                <a:latin typeface="Arial"/>
              </a:rPr>
              <a:t>For the railway</a:t>
            </a:r>
          </a:p>
          <a:p>
            <a:pPr>
              <a:spcAft>
                <a:spcPts val="0"/>
              </a:spcAft>
            </a:pPr>
            <a:r>
              <a:rPr sz="1500" b="0" i="0">
                <a:solidFill>
                  <a:srgbClr val="64748B"/>
                </a:solidFill>
                <a:latin typeface="Arial"/>
              </a:rPr>
              <a:t>See transfers that are currently invisible. Turn a missed connection from something discovered afterwards into a decision that can be made in time.</a:t>
            </a:r>
          </a:p>
        </p:txBody>
      </p:sp>
      <p:sp>
        <p:nvSpPr>
          <p:cNvPr id="12" name="TextBox 11"/>
          <p:cNvSpPr txBox="1"/>
          <p:nvPr/>
        </p:nvSpPr>
        <p:spPr>
          <a:xfrm>
            <a:off x="658368" y="4078224"/>
            <a:ext cx="10874959" cy="1463040"/>
          </a:xfrm>
          <a:prstGeom prst="rect">
            <a:avLst/>
          </a:prstGeom>
          <a:noFill/>
        </p:spPr>
        <p:txBody>
          <a:bodyPr wrap="square" anchor="t">
            <a:spAutoFit/>
          </a:bodyPr>
          <a:lstStyle/>
          <a:p>
            <a:pPr algn="l">
              <a:spcAft>
                <a:spcPts val="1000"/>
              </a:spcAft>
            </a:pPr>
            <a:r>
              <a:rPr sz="1900" b="1" i="0">
                <a:solidFill>
                  <a:srgbClr val="0F172A"/>
                </a:solidFill>
                <a:latin typeface="Arial"/>
              </a:rPr>
              <a:t>The same prediction that helps one passenger decide, aggregated across everyone on the train, becomes an operational signal for the railway.</a:t>
            </a:r>
          </a:p>
          <a:p>
            <a:pPr>
              <a:spcAft>
                <a:spcPts val="0"/>
              </a:spcAft>
            </a:pPr>
            <a:r>
              <a:rPr sz="1500" b="0" i="0">
                <a:solidFill>
                  <a:srgbClr val="64748B"/>
                </a:solidFill>
                <a:latin typeface="Arial"/>
              </a:rPr>
              <a:t>That is why these are one system and not four features — each capability is built on the one before it.</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F17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58368" y="2194560"/>
            <a:ext cx="10058400" cy="914400"/>
          </a:xfrm>
          <a:prstGeom prst="rect">
            <a:avLst/>
          </a:prstGeom>
          <a:noFill/>
        </p:spPr>
        <p:txBody>
          <a:bodyPr wrap="square" anchor="t">
            <a:spAutoFit/>
          </a:bodyPr>
          <a:lstStyle/>
          <a:p>
            <a:pPr algn="l">
              <a:spcAft>
                <a:spcPts val="0"/>
              </a:spcAft>
            </a:pPr>
            <a:r>
              <a:rPr sz="4400" b="1" i="0">
                <a:solidFill>
                  <a:srgbClr val="FFFFFF"/>
                </a:solidFill>
                <a:latin typeface="Arial"/>
              </a:rPr>
              <a:t>Thank you</a:t>
            </a:r>
          </a:p>
        </p:txBody>
      </p:sp>
      <p:sp>
        <p:nvSpPr>
          <p:cNvPr id="4" name="Rectangle 3"/>
          <p:cNvSpPr/>
          <p:nvPr/>
        </p:nvSpPr>
        <p:spPr>
          <a:xfrm>
            <a:off x="658368" y="3200400"/>
            <a:ext cx="1463040" cy="38100"/>
          </a:xfrm>
          <a:prstGeom prst="rect">
            <a:avLst/>
          </a:prstGeom>
          <a:solidFill>
            <a:srgbClr val="0EA5E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58368" y="3520440"/>
            <a:ext cx="10515600" cy="2011680"/>
          </a:xfrm>
          <a:prstGeom prst="rect">
            <a:avLst/>
          </a:prstGeom>
          <a:noFill/>
        </p:spPr>
        <p:txBody>
          <a:bodyPr wrap="square" anchor="t">
            <a:spAutoFit/>
          </a:bodyPr>
          <a:lstStyle/>
          <a:p>
            <a:pPr algn="l">
              <a:spcAft>
                <a:spcPts val="1000"/>
              </a:spcAft>
            </a:pPr>
            <a:r>
              <a:rPr sz="1700" b="0" i="0">
                <a:solidFill>
                  <a:srgbClr val="FFFFFF"/>
                </a:solidFill>
                <a:latin typeface="Arial"/>
              </a:rPr>
              <a:t>Live demo   irctc-smoky.vercel.app</a:t>
            </a:r>
          </a:p>
          <a:p>
            <a:pPr>
              <a:spcAft>
                <a:spcPts val="1000"/>
              </a:spcAft>
            </a:pPr>
            <a:r>
              <a:rPr sz="1700" b="0" i="0">
                <a:solidFill>
                  <a:srgbClr val="CBD5E1"/>
                </a:solidFill>
                <a:latin typeface="Arial"/>
              </a:rPr>
              <a:t>API   pnr-predictor-api.onrender.com</a:t>
            </a:r>
          </a:p>
          <a:p>
            <a:pPr>
              <a:spcAft>
                <a:spcPts val="0"/>
              </a:spcAft>
            </a:pPr>
            <a:r>
              <a:rPr sz="1700" b="0" i="0">
                <a:solidFill>
                  <a:srgbClr val="CBD5E1"/>
                </a:solidFill>
                <a:latin typeface="Arial"/>
              </a:rPr>
              <a:t>Source   github.com/mohammadamir0762-arch/irctc</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